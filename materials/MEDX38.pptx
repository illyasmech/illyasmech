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57" r:id="rId3"/>
    <p:sldId id="275" r:id="rId4"/>
    <p:sldId id="287" r:id="rId5"/>
    <p:sldId id="273" r:id="rId6"/>
    <p:sldId id="265" r:id="rId7"/>
    <p:sldId id="261" r:id="rId8"/>
    <p:sldId id="271" r:id="rId9"/>
    <p:sldId id="279" r:id="rId10"/>
    <p:sldId id="289" r:id="rId11"/>
    <p:sldId id="280" r:id="rId12"/>
    <p:sldId id="281" r:id="rId13"/>
    <p:sldId id="282" r:id="rId14"/>
    <p:sldId id="302" r:id="rId15"/>
    <p:sldId id="290" r:id="rId16"/>
    <p:sldId id="299" r:id="rId17"/>
    <p:sldId id="300" r:id="rId18"/>
    <p:sldId id="301" r:id="rId19"/>
    <p:sldId id="305" r:id="rId20"/>
    <p:sldId id="303" r:id="rId21"/>
    <p:sldId id="304" r:id="rId22"/>
    <p:sldId id="3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584FE-C35B-4528-B064-C7C7388E3D2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27B7D-73DB-4850-9EDA-C5833A12A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2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9738" y="736600"/>
            <a:ext cx="6419850" cy="36115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606296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9738" y="736600"/>
            <a:ext cx="6419850" cy="36115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219384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9738" y="736600"/>
            <a:ext cx="6419850" cy="3611563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72709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24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0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78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06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84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5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80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36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80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014AF-52B2-407D-A751-E217BBDE94D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AB418-876B-4335-86CD-A3119A164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9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8473" y="801255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Solar Radiation and Measurement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8473" y="1488282"/>
            <a:ext cx="9144000" cy="506773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Module I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7792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314" y="495589"/>
            <a:ext cx="3932237" cy="533400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 smtClean="0"/>
              <a:t>Sun</a:t>
            </a:r>
            <a:endParaRPr lang="en-IN" sz="4400" b="1" dirty="0"/>
          </a:p>
        </p:txBody>
      </p:sp>
      <p:pic>
        <p:nvPicPr>
          <p:cNvPr id="4" name="Picture 5" descr="COART1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00788" y="247797"/>
            <a:ext cx="4773248" cy="6022973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909060" y="1353489"/>
            <a:ext cx="4466504" cy="3811588"/>
          </a:xfrm>
        </p:spPr>
        <p:txBody>
          <a:bodyPr/>
          <a:lstStyle/>
          <a:p>
            <a:pPr algn="just"/>
            <a:r>
              <a:rPr lang="en-US" sz="2800" dirty="0" smtClean="0"/>
              <a:t>Radius - 70,0000 km</a:t>
            </a:r>
          </a:p>
          <a:p>
            <a:pPr algn="just"/>
            <a:r>
              <a:rPr lang="en-US" sz="2800" dirty="0" smtClean="0"/>
              <a:t>Mass - </a:t>
            </a:r>
            <a:r>
              <a:rPr lang="en-US" sz="2800" dirty="0"/>
              <a:t>2.0 x 10</a:t>
            </a:r>
            <a:r>
              <a:rPr lang="en-US" sz="2800" baseline="30000" dirty="0"/>
              <a:t>30</a:t>
            </a:r>
            <a:r>
              <a:rPr lang="en-US" sz="2800" dirty="0"/>
              <a:t> kg</a:t>
            </a:r>
            <a:endParaRPr lang="en-IN" sz="2800" dirty="0"/>
          </a:p>
          <a:p>
            <a:pPr algn="just"/>
            <a:r>
              <a:rPr lang="en-US" sz="2800" dirty="0" smtClean="0"/>
              <a:t>Temperature - 5500 C</a:t>
            </a:r>
          </a:p>
          <a:p>
            <a:pPr algn="just"/>
            <a:r>
              <a:rPr lang="en-US" sz="2800" dirty="0" smtClean="0"/>
              <a:t>Distance between sun and earth – 150 million km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91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7678"/>
            <a:ext cx="10515600" cy="1216893"/>
          </a:xfrm>
        </p:spPr>
        <p:txBody>
          <a:bodyPr>
            <a:normAutofit/>
          </a:bodyPr>
          <a:lstStyle/>
          <a:p>
            <a:r>
              <a:rPr lang="en-US" altLang="en-US" sz="4000" b="1" dirty="0"/>
              <a:t>Modes of heat transfer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354571"/>
            <a:ext cx="10515600" cy="4351338"/>
          </a:xfrm>
        </p:spPr>
        <p:txBody>
          <a:bodyPr/>
          <a:lstStyle/>
          <a:p>
            <a:pPr lvl="0" algn="just"/>
            <a:r>
              <a:rPr lang="en-US" dirty="0" smtClean="0"/>
              <a:t> </a:t>
            </a:r>
            <a:r>
              <a:rPr lang="en-US" sz="3200" dirty="0" smtClean="0"/>
              <a:t>Conduction </a:t>
            </a:r>
            <a:endParaRPr lang="en-IN" sz="3200" dirty="0"/>
          </a:p>
          <a:p>
            <a:pPr lvl="0" algn="just"/>
            <a:r>
              <a:rPr lang="en-US" sz="3200" dirty="0"/>
              <a:t> Convection </a:t>
            </a:r>
            <a:endParaRPr lang="en-IN" sz="3200" dirty="0"/>
          </a:p>
          <a:p>
            <a:pPr lvl="0" algn="just"/>
            <a:r>
              <a:rPr lang="en-US" sz="3200" dirty="0"/>
              <a:t> Radiation 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32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066800" y="30163"/>
            <a:ext cx="4857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Stefan–Boltzmann law </a:t>
            </a:r>
          </a:p>
        </p:txBody>
      </p:sp>
      <p:graphicFrame>
        <p:nvGraphicFramePr>
          <p:cNvPr id="184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908293"/>
              </p:ext>
            </p:extLst>
          </p:nvPr>
        </p:nvGraphicFramePr>
        <p:xfrm>
          <a:off x="2603500" y="2039938"/>
          <a:ext cx="2887663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6" name="Equation" r:id="rId4" imgW="609480" imgH="203040" progId="Equation.3">
                  <p:embed/>
                </p:oleObj>
              </mc:Choice>
              <mc:Fallback>
                <p:oleObj name="Equation" r:id="rId4" imgW="609480" imgH="203040" progId="Equation.3">
                  <p:embed/>
                  <p:pic>
                    <p:nvPicPr>
                      <p:cNvPr id="1843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2039938"/>
                        <a:ext cx="2887663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2"/>
          <p:cNvGraphicFramePr>
            <a:graphicFrameLocks noChangeAspect="1"/>
          </p:cNvGraphicFramePr>
          <p:nvPr>
            <p:extLst/>
          </p:nvPr>
        </p:nvGraphicFramePr>
        <p:xfrm>
          <a:off x="2349356" y="3397249"/>
          <a:ext cx="42132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7" name="Equation" r:id="rId6" imgW="1473120" imgH="203040" progId="Equation.3">
                  <p:embed/>
                </p:oleObj>
              </mc:Choice>
              <mc:Fallback>
                <p:oleObj name="Equation" r:id="rId6" imgW="1473120" imgH="203040" progId="Equation.3">
                  <p:embed/>
                  <p:pic>
                    <p:nvPicPr>
                      <p:cNvPr id="184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356" y="3397249"/>
                        <a:ext cx="42132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13"/>
          <p:cNvSpPr txBox="1">
            <a:spLocks noChangeArrowheads="1"/>
          </p:cNvSpPr>
          <p:nvPr/>
        </p:nvSpPr>
        <p:spPr bwMode="auto">
          <a:xfrm>
            <a:off x="1295400" y="1127126"/>
            <a:ext cx="60230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Total energy emitted by a </a:t>
            </a:r>
            <a:r>
              <a:rPr lang="en-US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black body</a:t>
            </a:r>
            <a:endParaRPr lang="en-US" altLang="en-US" sz="2800" dirty="0">
              <a:latin typeface="Symbol" panose="05050102010706020507" pitchFamily="18" charset="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2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4923"/>
          <a:stretch/>
        </p:blipFill>
        <p:spPr>
          <a:xfrm>
            <a:off x="879763" y="803563"/>
            <a:ext cx="9213273" cy="5878825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79763" y="193096"/>
            <a:ext cx="10515600" cy="6104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/>
              <a:t>Radiation from sun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83010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5837" y="504645"/>
            <a:ext cx="8077200" cy="5718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9126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3" t="24445" r="30484" b="30000"/>
          <a:stretch>
            <a:fillRect/>
          </a:stretch>
        </p:blipFill>
        <p:spPr bwMode="auto">
          <a:xfrm>
            <a:off x="952500" y="855664"/>
            <a:ext cx="10287000" cy="547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66800" y="27673"/>
            <a:ext cx="56477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Electro magnetic spectrum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44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Solar constant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Average solar </a:t>
            </a:r>
            <a:r>
              <a:rPr lang="en-US" dirty="0"/>
              <a:t>energy received per unit area </a:t>
            </a:r>
            <a:r>
              <a:rPr lang="en-US" dirty="0" smtClean="0"/>
              <a:t>at earth’s atmosphere.</a:t>
            </a:r>
          </a:p>
          <a:p>
            <a:pPr marL="0" indent="0">
              <a:buNone/>
            </a:pPr>
            <a:r>
              <a:rPr lang="en-US" dirty="0" smtClean="0"/>
              <a:t>Solar constant – 1361 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W/m²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345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dirty="0" smtClean="0"/>
              <a:t>Solar Radiation measurement</a:t>
            </a:r>
            <a:endParaRPr lang="en-US" dirty="0"/>
          </a:p>
        </p:txBody>
      </p:sp>
      <p:pic>
        <p:nvPicPr>
          <p:cNvPr id="1026" name="Picture 2" descr="C:\Users\Illyas\Desktop\Beam-and-diffuse-radiatio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219201"/>
            <a:ext cx="7143750" cy="3362325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28800" y="4876800"/>
            <a:ext cx="31242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Beam Radiation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905000" y="5334000"/>
            <a:ext cx="31242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Diffuse radiation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85454" y="5753100"/>
            <a:ext cx="5334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>
                <a:latin typeface="+mj-lt"/>
                <a:ea typeface="+mj-ea"/>
                <a:cs typeface="+mj-cs"/>
              </a:rPr>
              <a:t>Global or total radiation</a:t>
            </a:r>
          </a:p>
        </p:txBody>
      </p:sp>
    </p:spTree>
    <p:extLst>
      <p:ext uri="{BB962C8B-B14F-4D97-AF65-F5344CB8AC3E}">
        <p14:creationId xmlns:p14="http://schemas.microsoft.com/office/powerpoint/2010/main" val="187997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l="18911" t="12251" r="10096" b="16524"/>
          <a:stretch/>
        </p:blipFill>
        <p:spPr bwMode="auto">
          <a:xfrm>
            <a:off x="2113344" y="1059569"/>
            <a:ext cx="7372178" cy="46802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2139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dirty="0"/>
              <a:t>Solar Radiation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Pyranometer</a:t>
            </a:r>
            <a:r>
              <a:rPr lang="en-US" dirty="0" smtClean="0"/>
              <a:t> - Beam and diffuse radiation</a:t>
            </a:r>
          </a:p>
          <a:p>
            <a:r>
              <a:rPr lang="en-US" dirty="0" err="1"/>
              <a:t>Pyrheliometer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Beam Radiation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5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4181" y="558472"/>
            <a:ext cx="5145117" cy="838200"/>
          </a:xfrm>
        </p:spPr>
        <p:txBody>
          <a:bodyPr>
            <a:normAutofit/>
          </a:bodyPr>
          <a:lstStyle/>
          <a:p>
            <a:r>
              <a:rPr lang="en-US" sz="2800" dirty="0"/>
              <a:t>Principle of </a:t>
            </a:r>
            <a:r>
              <a:rPr lang="en-US" sz="2800" dirty="0" smtClean="0"/>
              <a:t>thermocouple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5602" name="Picture 2" descr="Black Body Radi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05000"/>
            <a:ext cx="4114800" cy="2219326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409700" y="589830"/>
            <a:ext cx="38862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dirty="0">
                <a:latin typeface="+mj-lt"/>
                <a:ea typeface="+mj-ea"/>
                <a:cs typeface="+mj-cs"/>
              </a:rPr>
              <a:t>Black body radiation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28800" y="0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 smtClean="0">
                <a:latin typeface="+mj-lt"/>
                <a:ea typeface="+mj-ea"/>
                <a:cs typeface="+mj-cs"/>
              </a:rPr>
              <a:t>Solar </a:t>
            </a:r>
            <a:r>
              <a:rPr lang="en-US" sz="4400" b="1" dirty="0">
                <a:latin typeface="+mj-lt"/>
                <a:ea typeface="+mj-ea"/>
                <a:cs typeface="+mj-cs"/>
              </a:rPr>
              <a:t>Radiation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999" y="4699061"/>
            <a:ext cx="12709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001D35"/>
                </a:solidFill>
                <a:latin typeface="Google Sans"/>
              </a:rPr>
              <a:t>V </a:t>
            </a:r>
            <a:r>
              <a:rPr lang="el-GR" sz="2800" dirty="0" smtClean="0">
                <a:solidFill>
                  <a:srgbClr val="001D35"/>
                </a:solidFill>
                <a:latin typeface="Google Sans"/>
              </a:rPr>
              <a:t>α</a:t>
            </a:r>
            <a:r>
              <a:rPr lang="en-US" sz="2800" dirty="0" smtClean="0">
                <a:solidFill>
                  <a:srgbClr val="001D35"/>
                </a:solidFill>
                <a:latin typeface="Google Sans"/>
              </a:rPr>
              <a:t> </a:t>
            </a:r>
            <a:r>
              <a:rPr lang="el-GR" sz="2800" dirty="0" smtClean="0">
                <a:solidFill>
                  <a:srgbClr val="001D35"/>
                </a:solidFill>
                <a:latin typeface="Google Sans"/>
              </a:rPr>
              <a:t>Δ</a:t>
            </a:r>
            <a:r>
              <a:rPr lang="en-IN" sz="2800" dirty="0">
                <a:solidFill>
                  <a:srgbClr val="001D35"/>
                </a:solidFill>
                <a:latin typeface="Google Sans"/>
              </a:rPr>
              <a:t>T</a:t>
            </a:r>
            <a:endParaRPr lang="en-IN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3"/>
          <a:stretch/>
        </p:blipFill>
        <p:spPr>
          <a:xfrm>
            <a:off x="5802399" y="1466069"/>
            <a:ext cx="5668126" cy="323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3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09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Pyranometer</a:t>
            </a:r>
            <a:endParaRPr lang="en-US" b="1" dirty="0"/>
          </a:p>
        </p:txBody>
      </p:sp>
      <p:pic>
        <p:nvPicPr>
          <p:cNvPr id="5" name="Picture 3" descr="C:\Users\serajulhuque\Desktop\Renewable Energy resources\pyrometer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33600" y="2752726"/>
            <a:ext cx="7867650" cy="4105275"/>
          </a:xfrm>
          <a:prstGeom prst="rect">
            <a:avLst/>
          </a:prstGeom>
          <a:noFill/>
        </p:spPr>
      </p:pic>
      <p:pic>
        <p:nvPicPr>
          <p:cNvPr id="20487" name="Picture 7" descr="C:\Users\Illyas\Desktop\New folder\solar-radiation-measurement-2-63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8600" y="533400"/>
            <a:ext cx="3320276" cy="2250104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236528" y="1755434"/>
            <a:ext cx="3124200" cy="997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3984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Wavelength Range Measured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07937"/>
              </p:ext>
            </p:extLst>
          </p:nvPr>
        </p:nvGraphicFramePr>
        <p:xfrm>
          <a:off x="838200" y="1690688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795890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23008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5506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Approximate Wavelength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Frequency (Hz)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95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Ultraviolet (UV)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 – 400 nm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~10¹⁵ 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51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Visible Light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 – 700 nm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~4.3 × 10¹⁴ to 7.5 × 10¹⁴ 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81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Near Infrared (NIR)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 – 2800 nm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~10¹⁴ 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783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799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0075" y="0"/>
            <a:ext cx="8229600" cy="1027285"/>
          </a:xfrm>
        </p:spPr>
        <p:txBody>
          <a:bodyPr>
            <a:normAutofit/>
          </a:bodyPr>
          <a:lstStyle/>
          <a:p>
            <a:r>
              <a:rPr lang="en-US" b="1" dirty="0" smtClean="0"/>
              <a:t>Pyrheliometer</a:t>
            </a:r>
            <a:endParaRPr lang="en-US" b="1" dirty="0"/>
          </a:p>
        </p:txBody>
      </p:sp>
      <p:pic>
        <p:nvPicPr>
          <p:cNvPr id="4" name="Picture 3" descr="C:\Users\Illyas\Desktop\New folder\solar-radiation-measurement-7-638 - Cop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4835" y="2366255"/>
            <a:ext cx="3949532" cy="3258690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27285"/>
            <a:ext cx="6381750" cy="505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60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8"/>
          <a:stretch/>
        </p:blipFill>
        <p:spPr>
          <a:xfrm>
            <a:off x="3445886" y="1155674"/>
            <a:ext cx="5764650" cy="509584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0075" y="0"/>
            <a:ext cx="8229600" cy="1027285"/>
          </a:xfrm>
        </p:spPr>
        <p:txBody>
          <a:bodyPr>
            <a:normAutofit/>
          </a:bodyPr>
          <a:lstStyle/>
          <a:p>
            <a:r>
              <a:rPr lang="en-US" b="1" dirty="0" smtClean="0"/>
              <a:t>Coordinates of Earth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043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" t="6372" r="1102" b="509"/>
          <a:stretch/>
        </p:blipFill>
        <p:spPr>
          <a:xfrm>
            <a:off x="600075" y="832297"/>
            <a:ext cx="5130554" cy="52370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7"/>
          <a:stretch/>
        </p:blipFill>
        <p:spPr>
          <a:xfrm>
            <a:off x="6199641" y="623455"/>
            <a:ext cx="5260067" cy="525419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0075" y="0"/>
            <a:ext cx="8229600" cy="1027285"/>
          </a:xfrm>
        </p:spPr>
        <p:txBody>
          <a:bodyPr>
            <a:normAutofit/>
          </a:bodyPr>
          <a:lstStyle/>
          <a:p>
            <a:r>
              <a:rPr lang="en-US" b="1" dirty="0" smtClean="0"/>
              <a:t>Coordinates of Earth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8743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5"/>
          <a:stretch/>
        </p:blipFill>
        <p:spPr>
          <a:xfrm>
            <a:off x="7631287" y="1027285"/>
            <a:ext cx="4428794" cy="319835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0075" y="0"/>
            <a:ext cx="8229600" cy="1027285"/>
          </a:xfrm>
        </p:spPr>
        <p:txBody>
          <a:bodyPr>
            <a:normAutofit/>
          </a:bodyPr>
          <a:lstStyle/>
          <a:p>
            <a:r>
              <a:rPr lang="en-US" b="1" dirty="0" smtClean="0"/>
              <a:t>Basic Earth Sun angles</a:t>
            </a:r>
            <a:endParaRPr lang="en-US" sz="31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0073" y="1128958"/>
                <a:ext cx="7158471" cy="360929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Latitude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b="1" dirty="0" smtClean="0"/>
                  <a:t>) </a:t>
                </a:r>
              </a:p>
              <a:p>
                <a:r>
                  <a:rPr lang="en-US" dirty="0"/>
                  <a:t>The angular distance of a location on Earth north or south of the </a:t>
                </a:r>
                <a:r>
                  <a:rPr lang="en-US" dirty="0" smtClean="0"/>
                  <a:t>equator </a:t>
                </a:r>
                <a:r>
                  <a:rPr lang="en-US" dirty="0"/>
                  <a:t>measured in degrees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b="1" dirty="0" smtClean="0"/>
                  <a:t>Declination angle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algn="just"/>
                <a:r>
                  <a:rPr lang="en-US" dirty="0"/>
                  <a:t>The angle between the rays of the Sun and the </a:t>
                </a:r>
                <a:r>
                  <a:rPr lang="en-US" dirty="0" smtClean="0"/>
                  <a:t>equatorial plane</a:t>
                </a:r>
                <a:r>
                  <a:rPr lang="en-US" dirty="0"/>
                  <a:t> </a:t>
                </a:r>
                <a:r>
                  <a:rPr lang="en-US" dirty="0" smtClean="0"/>
                  <a:t>of earth</a:t>
                </a:r>
              </a:p>
              <a:p>
                <a:pPr algn="just"/>
                <a:r>
                  <a:rPr lang="en-US" dirty="0"/>
                  <a:t>It determines the season and changes throughout the year as Earth revolves around the Sun.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=23.45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−81)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365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360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n – </a:t>
                </a:r>
                <a:r>
                  <a:rPr lang="en-US" dirty="0"/>
                  <a:t>day number of the year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073" y="1128958"/>
                <a:ext cx="7158471" cy="3609297"/>
              </a:xfrm>
              <a:blipFill>
                <a:blip r:embed="rId3"/>
                <a:stretch>
                  <a:fillRect l="-1106" t="-3547" r="-1021" b="-1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621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24" y="1195413"/>
            <a:ext cx="9649685" cy="4778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6937" y="269780"/>
            <a:ext cx="2856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Declination angle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646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1"/>
          <a:stretch/>
        </p:blipFill>
        <p:spPr>
          <a:xfrm>
            <a:off x="6757863" y="1179702"/>
            <a:ext cx="5220261" cy="346157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8383" y="0"/>
            <a:ext cx="8229600" cy="1027285"/>
          </a:xfrm>
        </p:spPr>
        <p:txBody>
          <a:bodyPr>
            <a:normAutofit/>
          </a:bodyPr>
          <a:lstStyle/>
          <a:p>
            <a:r>
              <a:rPr lang="en-US" b="1" dirty="0" smtClean="0"/>
              <a:t>Derived solar angles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383" y="1164012"/>
                <a:ext cx="6418672" cy="5541588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Zenith angle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 smtClean="0"/>
              </a:p>
              <a:p>
                <a:pPr algn="just"/>
                <a:r>
                  <a:rPr lang="en-US" dirty="0"/>
                  <a:t>The zenith angle is the angle between the </a:t>
                </a:r>
                <a:r>
                  <a:rPr lang="en-US" dirty="0" smtClean="0"/>
                  <a:t>Sun </a:t>
                </a:r>
                <a:r>
                  <a:rPr lang="en-US" dirty="0"/>
                  <a:t>rays and the vertical </a:t>
                </a:r>
                <a:r>
                  <a:rPr lang="en-US" dirty="0" smtClean="0"/>
                  <a:t>direction </a:t>
                </a:r>
                <a:r>
                  <a:rPr lang="en-US" dirty="0"/>
                  <a:t>directly overhead</a:t>
                </a:r>
                <a:r>
                  <a:rPr lang="en-US" dirty="0" smtClean="0"/>
                  <a:t>.</a:t>
                </a:r>
              </a:p>
              <a:p>
                <a:pPr algn="just"/>
                <a:r>
                  <a:rPr lang="en-US" dirty="0"/>
                  <a:t>Used in solar radiation models to calculate the intensity of sunlight on inclined surfaces.</a:t>
                </a:r>
              </a:p>
              <a:p>
                <a:pPr algn="just"/>
                <a:r>
                  <a:rPr lang="en-US" dirty="0"/>
                  <a:t>A smaller zenith angle means stronger solar intensity.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9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sz="29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29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900" b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9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lang="en-US" sz="29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func>
                                <m:funcPr>
                                  <m:ctrlP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900" b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  <m: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29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900" b="1" i="1">
                                          <a:latin typeface="Cambria Math" panose="02040503050406030204" pitchFamily="18" charset="0"/>
                                        </a:rPr>
                                        <m:t>𝒔𝒊𝒏</m:t>
                                      </m:r>
                                    </m:fName>
                                    <m:e>
                                      <m:r>
                                        <a:rPr lang="en-US" sz="2900" b="1" i="1">
                                          <a:latin typeface="Cambria Math" panose="02040503050406030204" pitchFamily="18" charset="0"/>
                                        </a:rPr>
                                        <m:t>∅</m:t>
                                      </m:r>
                                      <m:func>
                                        <m:funcPr>
                                          <m:ctrlPr>
                                            <a:rPr lang="en-US" sz="29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2900" b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900" b="1" i="1">
                                              <a:latin typeface="Cambria Math" panose="02040503050406030204" pitchFamily="18" charset="0"/>
                                            </a:rPr>
                                            <m:t>𝒔𝒊𝒏</m:t>
                                          </m:r>
                                        </m:fName>
                                        <m:e>
                                          <m:r>
                                            <a:rPr lang="en-US" sz="2900" b="1" i="1">
                                              <a:latin typeface="Cambria Math" panose="02040503050406030204" pitchFamily="18" charset="0"/>
                                            </a:rPr>
                                            <m:t>𝜹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1" dirty="0" smtClean="0"/>
              </a:p>
              <a:p>
                <a:pPr marL="0" indent="0">
                  <a:buNone/>
                </a:pPr>
                <a:r>
                  <a:rPr lang="en-US" b="1" dirty="0" smtClean="0"/>
                  <a:t>Altitude angle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 smtClean="0"/>
              </a:p>
              <a:p>
                <a:pPr algn="just"/>
                <a:r>
                  <a:rPr lang="en-US" dirty="0"/>
                  <a:t>The altitude angle is the angle between the </a:t>
                </a:r>
                <a:r>
                  <a:rPr lang="en-US" dirty="0" smtClean="0"/>
                  <a:t>Sun </a:t>
                </a:r>
                <a:r>
                  <a:rPr lang="en-US" dirty="0"/>
                  <a:t>rays and the horizontal plane at a given location. It ranges from 0° (at sunrise/sunset) to 90° (when the Sun is directly overhead</a:t>
                </a:r>
                <a:r>
                  <a:rPr lang="en-US" dirty="0" smtClean="0"/>
                  <a:t>).</a:t>
                </a:r>
              </a:p>
              <a:p>
                <a:pPr algn="just"/>
                <a:r>
                  <a:rPr lang="en-US" dirty="0"/>
                  <a:t>Determines the height of the Sun in the sky.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9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𝐬𝐢𝐧</m:t>
                          </m:r>
                          <m:r>
                            <a:rPr lang="en-US" sz="29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𝛂</m:t>
                          </m:r>
                          <m:r>
                            <a:rPr lang="en-US" sz="2900" b="1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29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9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9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lang="en-US" sz="29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func>
                                <m:funcPr>
                                  <m:ctrlP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900" b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  <m:r>
                                    <a:rPr lang="en-US" sz="29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29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900" b="1" i="1">
                                          <a:latin typeface="Cambria Math" panose="02040503050406030204" pitchFamily="18" charset="0"/>
                                        </a:rPr>
                                        <m:t>𝒔𝒊𝒏</m:t>
                                      </m:r>
                                    </m:fName>
                                    <m:e>
                                      <m:r>
                                        <a:rPr lang="en-US" sz="2900" b="1" i="1">
                                          <a:latin typeface="Cambria Math" panose="02040503050406030204" pitchFamily="18" charset="0"/>
                                        </a:rPr>
                                        <m:t>∅</m:t>
                                      </m:r>
                                      <m:func>
                                        <m:funcPr>
                                          <m:ctrlPr>
                                            <a:rPr lang="en-US" sz="29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2900" b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900" b="1" i="1">
                                              <a:latin typeface="Cambria Math" panose="02040503050406030204" pitchFamily="18" charset="0"/>
                                            </a:rPr>
                                            <m:t>𝒔𝒊𝒏</m:t>
                                          </m:r>
                                        </m:fName>
                                        <m:e>
                                          <m:r>
                                            <a:rPr lang="en-US" sz="2900" b="1" i="1">
                                              <a:latin typeface="Cambria Math" panose="02040503050406030204" pitchFamily="18" charset="0"/>
                                            </a:rPr>
                                            <m:t>𝜹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 smtClean="0"/>
                  <a:t>Azimuth angle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algn="just"/>
                <a:r>
                  <a:rPr lang="en-US" dirty="0"/>
                  <a:t>The solar azimuth angle is the compass direction from which the sunlight is coming, measured clockwise from true north</a:t>
                </a:r>
                <a:r>
                  <a:rPr lang="en-US" dirty="0" smtClean="0"/>
                  <a:t>.</a:t>
                </a:r>
              </a:p>
              <a:p>
                <a:pPr algn="just"/>
                <a:r>
                  <a:rPr lang="en-US" dirty="0"/>
                  <a:t>In the context of measuring the solar azimuth angle, a compass direction refers to the cardinal direction (North, East, South, West) and the degrees of rotation around the </a:t>
                </a:r>
                <a:r>
                  <a:rPr lang="en-US" dirty="0" smtClean="0"/>
                  <a:t>horizon </a:t>
                </a:r>
                <a:r>
                  <a:rPr lang="en-US" dirty="0"/>
                  <a:t>used to indicate where the sunlight is coming from.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5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</m:func>
                      <m:r>
                        <a:rPr lang="en-US" sz="2500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5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𝒔𝒆𝒄</m:t>
                          </m:r>
                        </m:fName>
                        <m:e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2500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func>
                            <m:funcPr>
                              <m:ctrlPr>
                                <a:rPr lang="en-US" sz="25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5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lang="en-US" sz="2500" b="1" i="1"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  <m:func>
                                <m:funcPr>
                                  <m:ctrlPr>
                                    <a:rPr lang="en-US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500" b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500" b="1" i="1">
                                      <a:latin typeface="Cambria Math" panose="02040503050406030204" pitchFamily="18" charset="0"/>
                                    </a:rPr>
                                    <m:t>𝒔𝒊𝒏</m:t>
                                  </m:r>
                                </m:fName>
                                <m:e>
                                  <m:r>
                                    <a:rPr lang="en-US" sz="25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  <m:r>
                                    <a:rPr lang="en-US" sz="25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sz="2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500" b="1" i="1">
                                          <a:latin typeface="Cambria Math" panose="02040503050406030204" pitchFamily="18" charset="0"/>
                                        </a:rPr>
                                        <m:t>𝒄𝒐𝒔</m:t>
                                      </m:r>
                                    </m:fName>
                                    <m:e>
                                      <m:r>
                                        <a:rPr lang="en-US" sz="2500" b="1" i="1">
                                          <a:latin typeface="Cambria Math" panose="02040503050406030204" pitchFamily="18" charset="0"/>
                                        </a:rPr>
                                        <m:t>𝜹</m:t>
                                      </m:r>
                                      <m:func>
                                        <m:funcPr>
                                          <m:ctrlPr>
                                            <a:rPr lang="en-US" sz="25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2500" b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500" b="1" i="1">
                                              <a:latin typeface="Cambria Math" panose="02040503050406030204" pitchFamily="18" charset="0"/>
                                            </a:rPr>
                                            <m:t>𝒔𝒊𝒏</m:t>
                                          </m:r>
                                        </m:fName>
                                        <m:e>
                                          <m:r>
                                            <a:rPr lang="en-US" sz="2500" b="1" i="1">
                                              <a:latin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sz="25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a:rPr lang="en-US" sz="2500" b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500" b="1" i="1">
                                                  <a:latin typeface="Cambria Math" panose="02040503050406030204" pitchFamily="18" charset="0"/>
                                                </a:rPr>
                                                <m:t>𝒄𝒐𝒔</m:t>
                                              </m:r>
                                            </m:fName>
                                            <m:e>
                                              <m:r>
                                                <a:rPr lang="en-US" sz="2500" b="1" i="1"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  <m:r>
                                                <a:rPr lang="en-US" sz="2500" b="1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func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383" y="1164012"/>
                <a:ext cx="6418672" cy="5541588"/>
              </a:xfrm>
              <a:blipFill>
                <a:blip r:embed="rId3"/>
                <a:stretch>
                  <a:fillRect l="-760" t="-1870" r="-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6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235526" y="-1"/>
                <a:ext cx="10418619" cy="5500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200" b="1" dirty="0" smtClean="0"/>
                  <a:t>Hour angle </a:t>
                </a:r>
                <a14:m>
                  <m:oMath xmlns:m="http://schemas.openxmlformats.org/officeDocument/2006/math">
                    <m:r>
                      <a:rPr lang="en-US" sz="96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600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sz="9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600" b="1" dirty="0" smtClean="0"/>
              </a:p>
              <a:p>
                <a:pPr marL="0" indent="0" algn="just">
                  <a:buNone/>
                </a:pPr>
                <a:r>
                  <a:rPr lang="en-US" sz="8000" dirty="0" smtClean="0"/>
                  <a:t>The </a:t>
                </a:r>
                <a:r>
                  <a:rPr lang="en-US" sz="8000" dirty="0"/>
                  <a:t>angular distance the Earth has rotated since solar </a:t>
                </a:r>
                <a:r>
                  <a:rPr lang="en-US" sz="8000" dirty="0" smtClean="0"/>
                  <a:t>noon </a:t>
                </a:r>
                <a:r>
                  <a:rPr lang="en-US" sz="8000" dirty="0"/>
                  <a:t>measured in degrees</a:t>
                </a:r>
                <a:r>
                  <a:rPr lang="en-US" sz="8000" dirty="0" smtClean="0"/>
                  <a:t>.</a:t>
                </a:r>
              </a:p>
              <a:p>
                <a:pPr marL="0" indent="0" algn="just">
                  <a:buNone/>
                </a:pPr>
                <a:endParaRPr lang="en-US" sz="8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7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7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7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7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7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unc>
                                <m:funcPr>
                                  <m:ctrlP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7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72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7200" i="1">
                                          <a:latin typeface="Cambria Math" panose="02040503050406030204" pitchFamily="18" charset="0"/>
                                        </a:rPr>
                                        <m:t>∅</m:t>
                                      </m:r>
                                      <m:func>
                                        <m:funcPr>
                                          <m:ctrlPr>
                                            <a:rPr lang="en-US" sz="7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7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7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7200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7200" dirty="0" smtClean="0"/>
              </a:p>
              <a:p>
                <a:pPr marL="0" indent="0">
                  <a:buNone/>
                </a:pPr>
                <a:endParaRPr lang="en-US" sz="7200" dirty="0" smtClean="0"/>
              </a:p>
              <a:p>
                <a:pPr marL="0" indent="0">
                  <a:buNone/>
                </a:pPr>
                <a:r>
                  <a:rPr lang="en-US" sz="7200" dirty="0" smtClean="0"/>
                  <a:t>The </a:t>
                </a:r>
                <a:r>
                  <a:rPr lang="en-US" sz="7200" dirty="0"/>
                  <a:t>zenith angle </a:t>
                </a:r>
                <a14:m>
                  <m:oMath xmlns:m="http://schemas.openxmlformats.org/officeDocument/2006/math">
                    <m:r>
                      <a:rPr lang="en-US" sz="72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7200" i="1">
                        <a:latin typeface="Cambria Math" panose="02040503050406030204" pitchFamily="18" charset="0"/>
                      </a:rPr>
                      <m:t>=90</m:t>
                    </m:r>
                  </m:oMath>
                </a14:m>
                <a:r>
                  <a:rPr lang="en-US" sz="7200" dirty="0"/>
                  <a:t> at </a:t>
                </a:r>
                <a:r>
                  <a:rPr lang="en-US" sz="7200" dirty="0" smtClean="0"/>
                  <a:t>sun </a:t>
                </a:r>
                <a:r>
                  <a:rPr lang="en-US" sz="7200" dirty="0"/>
                  <a:t>rise and sun set </a:t>
                </a:r>
                <a:endParaRPr lang="en-US" sz="7200" dirty="0" smtClean="0"/>
              </a:p>
              <a:p>
                <a:pPr marL="0" indent="0">
                  <a:buNone/>
                </a:pPr>
                <a:endParaRPr lang="en-US" sz="7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7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90=</m:t>
                          </m:r>
                        </m:e>
                      </m:func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7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7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7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7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7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unc>
                                <m:funcPr>
                                  <m:ctrlP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7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72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7200" i="1">
                                          <a:latin typeface="Cambria Math" panose="02040503050406030204" pitchFamily="18" charset="0"/>
                                        </a:rPr>
                                        <m:t>∅</m:t>
                                      </m:r>
                                      <m:func>
                                        <m:funcPr>
                                          <m:ctrlPr>
                                            <a:rPr lang="en-US" sz="7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7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7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7200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7200" dirty="0" smtClean="0"/>
              </a:p>
              <a:p>
                <a:pPr marL="0" indent="0">
                  <a:buNone/>
                </a:pPr>
                <a:endParaRPr lang="en-US" sz="7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7200">
                              <a:latin typeface="Cambria Math" panose="02040503050406030204" pitchFamily="18" charset="0"/>
                            </a:rPr>
                            <m:t>0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7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7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7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7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7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unc>
                                <m:funcPr>
                                  <m:ctrlP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7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72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7200" i="1">
                                          <a:latin typeface="Cambria Math" panose="02040503050406030204" pitchFamily="18" charset="0"/>
                                        </a:rPr>
                                        <m:t>∅</m:t>
                                      </m:r>
                                      <m:func>
                                        <m:funcPr>
                                          <m:ctrlPr>
                                            <a:rPr lang="en-US" sz="7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US" sz="7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7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7200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7200" dirty="0" smtClean="0"/>
              </a:p>
              <a:p>
                <a:pPr marL="0" indent="0">
                  <a:buNone/>
                </a:pPr>
                <a:endParaRPr lang="en-US" sz="72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7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72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7200" i="1">
                                <a:latin typeface="Cambria Math" panose="02040503050406030204" pitchFamily="18" charset="0"/>
                              </a:rPr>
                              <m:t>∅</m:t>
                            </m:r>
                            <m:func>
                              <m:funcPr>
                                <m:ctrlPr>
                                  <a:rPr lang="en-US" sz="72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72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72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72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func>
                          </m:e>
                        </m:func>
                      </m:fName>
                      <m:e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7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72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∅</m:t>
                        </m:r>
                        <m:func>
                          <m:funcPr>
                            <m:ctrlPr>
                              <a:rPr lang="en-US" sz="7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72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72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72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func>
                              <m:funcPr>
                                <m:ctrlPr>
                                  <a:rPr lang="en-US" sz="72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72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72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72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US" sz="7200" dirty="0"/>
                  <a:t> </a:t>
                </a:r>
                <a:endParaRPr lang="en-US" sz="7200" dirty="0" smtClean="0"/>
              </a:p>
              <a:p>
                <a:pPr marL="0" indent="0">
                  <a:buNone/>
                </a:pPr>
                <a:r>
                  <a:rPr lang="en-US" sz="7200" dirty="0" smtClean="0"/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en-US" sz="7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7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7200" i="1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func>
                      <m:r>
                        <a:rPr lang="en-US" sz="7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7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7200" i="1"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  <m:func>
                                <m:funcPr>
                                  <m:ctrlP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func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7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7200" i="1"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  <m:func>
                                <m:funcPr>
                                  <m:ctrlP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72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7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func>
                            </m:e>
                          </m:func>
                        </m:den>
                      </m:f>
                    </m:oMath>
                  </m:oMathPara>
                </a14:m>
                <a:endParaRPr lang="en-US" sz="7200" dirty="0" smtClean="0"/>
              </a:p>
              <a:p>
                <a:pPr marL="0" indent="0">
                  <a:buNone/>
                </a:pPr>
                <a:endParaRPr lang="en-US" sz="7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7200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sz="7200" b="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7200" b="0" i="1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func>
                      <m:r>
                        <a:rPr lang="en-US" sz="7200" b="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7200" b="0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r>
                            <a:rPr lang="en-US" sz="7200" b="0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7200" b="0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fName>
                            <m:e>
                              <m:r>
                                <a:rPr lang="en-US" sz="7200" b="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7200" dirty="0" smtClean="0"/>
              </a:p>
              <a:p>
                <a:pPr marL="0" indent="0">
                  <a:buNone/>
                </a:pPr>
                <a:endParaRPr lang="en-US" sz="7200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0" b="1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8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US" sz="8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8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8000" b="1" i="1">
                          <a:latin typeface="Cambria Math" panose="02040503050406030204" pitchFamily="18" charset="0"/>
                        </a:rPr>
                        <m:t> (−</m:t>
                      </m:r>
                      <m:func>
                        <m:funcPr>
                          <m:ctrlPr>
                            <a:rPr lang="en-US" sz="8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8000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lang="en-US" sz="8000" b="1" i="1">
                              <a:latin typeface="Cambria Math" panose="02040503050406030204" pitchFamily="18" charset="0"/>
                            </a:rPr>
                            <m:t>∅</m:t>
                          </m:r>
                          <m:func>
                            <m:funcPr>
                              <m:ctrlPr>
                                <a:rPr lang="en-US" sz="80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8000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US" sz="80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  <m:r>
                                <a:rPr lang="en-US" sz="8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7200" b="1" dirty="0" smtClean="0"/>
              </a:p>
              <a:p>
                <a:pPr marL="0" indent="0">
                  <a:buNone/>
                </a:pPr>
                <a:endParaRPr lang="en-US" sz="72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7200" b="1" dirty="0" smtClean="0"/>
              </a:p>
              <a:p>
                <a:pPr marL="0" indent="0">
                  <a:buNone/>
                </a:pPr>
                <a:endParaRPr lang="en-US" sz="7200" dirty="0"/>
              </a:p>
              <a:p>
                <a:pPr marL="0" indent="0">
                  <a:buNone/>
                </a:pPr>
                <a:endParaRPr lang="en-US" sz="8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26" y="-1"/>
                <a:ext cx="10418619" cy="5500255"/>
              </a:xfrm>
              <a:prstGeom prst="rect">
                <a:avLst/>
              </a:prstGeom>
              <a:blipFill>
                <a:blip r:embed="rId2"/>
                <a:stretch>
                  <a:fillRect l="-1053" t="-2993" b="-4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56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6865" y="336015"/>
                <a:ext cx="11404808" cy="339085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000" b="1" dirty="0" smtClean="0"/>
                  <a:t>Day length </a:t>
                </a:r>
                <a:r>
                  <a:rPr lang="en-US" sz="3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b="1" dirty="0" smtClean="0"/>
              </a:p>
              <a:p>
                <a:pPr marL="0" indent="0" algn="just">
                  <a:buNone/>
                </a:pPr>
                <a:r>
                  <a:rPr lang="en-US" sz="2400" dirty="0" smtClean="0"/>
                  <a:t>The </a:t>
                </a:r>
                <a:r>
                  <a:rPr lang="en-US" sz="2400" dirty="0"/>
                  <a:t>time interval between sunrise and </a:t>
                </a:r>
                <a:r>
                  <a:rPr lang="en-US" sz="2400" dirty="0" smtClean="0"/>
                  <a:t>sunset </a:t>
                </a:r>
                <a:r>
                  <a:rPr lang="en-US" sz="2400" dirty="0"/>
                  <a:t>during which solar radiation reaches the </a:t>
                </a:r>
                <a:r>
                  <a:rPr lang="en-US" sz="2400" dirty="0" smtClean="0"/>
                  <a:t>surface of the earth. </a:t>
                </a:r>
              </a:p>
              <a:p>
                <a:pPr marL="0" indent="0" algn="just">
                  <a:buNone/>
                </a:pPr>
                <a:r>
                  <a:rPr lang="en-US" sz="2400" dirty="0" smtClean="0"/>
                  <a:t>It </a:t>
                </a:r>
                <a:r>
                  <a:rPr lang="en-US" sz="2400" dirty="0"/>
                  <a:t>depends on both the latitude of the location and the solar declination </a:t>
                </a:r>
                <a:r>
                  <a:rPr lang="en-US" sz="2400" dirty="0" smtClean="0"/>
                  <a:t>angle </a:t>
                </a:r>
                <a:r>
                  <a:rPr lang="en-US" sz="2400" dirty="0"/>
                  <a:t>which changes throughout the year due to the </a:t>
                </a:r>
                <a:r>
                  <a:rPr lang="en-US" sz="2400" dirty="0" smtClean="0"/>
                  <a:t>axial tilt of the earth </a:t>
                </a:r>
                <a:r>
                  <a:rPr lang="en-US" sz="2400" dirty="0"/>
                  <a:t>and orbit around the sun</a:t>
                </a:r>
                <a:r>
                  <a:rPr lang="en-US" sz="2400" dirty="0" smtClean="0"/>
                  <a:t>.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𝟏𝟓</m:t>
                          </m:r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(−</m:t>
                      </m:r>
                      <m:func>
                        <m:func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func>
                            <m:func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865" y="336015"/>
                <a:ext cx="11404808" cy="3390858"/>
              </a:xfrm>
              <a:blipFill>
                <a:blip r:embed="rId2"/>
                <a:stretch>
                  <a:fillRect l="-1069" t="-4856" r="-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4" t="13174" r="10517" b="15983"/>
          <a:stretch/>
        </p:blipFill>
        <p:spPr>
          <a:xfrm>
            <a:off x="6812052" y="2441823"/>
            <a:ext cx="4813781" cy="295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9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8396</TotalTime>
  <Words>305</Words>
  <Application>Microsoft Office PowerPoint</Application>
  <PresentationFormat>Widescreen</PresentationFormat>
  <Paragraphs>106</Paragraphs>
  <Slides>22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Google Sans</vt:lpstr>
      <vt:lpstr>Symbol</vt:lpstr>
      <vt:lpstr>Office Theme</vt:lpstr>
      <vt:lpstr>Equation</vt:lpstr>
      <vt:lpstr> Solar Radiation and Measurement</vt:lpstr>
      <vt:lpstr>Sun</vt:lpstr>
      <vt:lpstr>Modes of heat transfer </vt:lpstr>
      <vt:lpstr>PowerPoint Presentation</vt:lpstr>
      <vt:lpstr>PowerPoint Presentation</vt:lpstr>
      <vt:lpstr>PowerPoint Presentation</vt:lpstr>
      <vt:lpstr>PowerPoint Presentation</vt:lpstr>
      <vt:lpstr>Solar constant</vt:lpstr>
      <vt:lpstr>Solar Radiation measurement</vt:lpstr>
      <vt:lpstr>PowerPoint Presentation</vt:lpstr>
      <vt:lpstr>Solar Radiation measurement</vt:lpstr>
      <vt:lpstr>Principle of thermocouple</vt:lpstr>
      <vt:lpstr>Pyranometer</vt:lpstr>
      <vt:lpstr>Wavelength Range Measured</vt:lpstr>
      <vt:lpstr>Pyrheliometer</vt:lpstr>
      <vt:lpstr>Coordinates of Earth</vt:lpstr>
      <vt:lpstr>Coordinates of Earth</vt:lpstr>
      <vt:lpstr>Basic Earth Sun angles</vt:lpstr>
      <vt:lpstr>PowerPoint Presentation</vt:lpstr>
      <vt:lpstr>Derived solar angles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155</cp:revision>
  <dcterms:created xsi:type="dcterms:W3CDTF">2025-07-12T14:22:16Z</dcterms:created>
  <dcterms:modified xsi:type="dcterms:W3CDTF">2025-09-03T14:17:01Z</dcterms:modified>
</cp:coreProperties>
</file>