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32" r:id="rId2"/>
    <p:sldId id="334" r:id="rId3"/>
    <p:sldId id="270" r:id="rId4"/>
    <p:sldId id="272" r:id="rId5"/>
    <p:sldId id="271" r:id="rId6"/>
    <p:sldId id="345" r:id="rId7"/>
    <p:sldId id="351" r:id="rId8"/>
    <p:sldId id="347" r:id="rId9"/>
    <p:sldId id="353" r:id="rId10"/>
    <p:sldId id="277" r:id="rId11"/>
    <p:sldId id="280" r:id="rId12"/>
    <p:sldId id="315" r:id="rId13"/>
    <p:sldId id="340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39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/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extLst/>
            </a:lstStyle>
            <a:p>
              <a:pPr>
                <a:defRPr/>
              </a:pPr>
              <a:endParaRPr lang="en-US"/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9108557 w 5760"/>
                <a:gd name="T3" fmla="*/ 0 h 528"/>
                <a:gd name="T4" fmla="*/ 9108557 w 5760"/>
                <a:gd name="T5" fmla="*/ 838200 h 528"/>
                <a:gd name="T6" fmla="*/ 75905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extLst/>
            </a:lstStyle>
            <a:p>
              <a:pPr algn="ctr"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3C80F265-3E99-477D-8468-50A90B2F8D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40D9A9-3E18-4407-90C4-1A09EC55D8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91E9781-11A1-4E70-84F1-EBF11B74DB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DA162FE-DD8F-4A21-BD6B-4AC98C7411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856F8C0-0F7B-4879-922A-1384345248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21CCB9E-60EB-459C-BBF2-FD04E981C9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95E0C-745F-4637-85A7-CF3B371CB4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D7AF0ED-8B51-493C-B5A9-44B0D21DEE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Freeform 15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3802505 w 5591"/>
              <a:gd name="T3" fmla="*/ 0 h 588"/>
              <a:gd name="T4" fmla="*/ 3802505 w 5591"/>
              <a:gd name="T5" fmla="*/ 838200 h 588"/>
              <a:gd name="T6" fmla="*/ 3168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AE0E5346-942E-49D7-B4E3-E2E79B9689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BF5F7E-FA20-4EDF-B8FD-44F317EA74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473CBA-190E-45CE-9AC3-CB4E553AFD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62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3802505 w 5591"/>
              <a:gd name="T3" fmla="*/ 0 h 588"/>
              <a:gd name="T4" fmla="*/ 3802505 w 5591"/>
              <a:gd name="T5" fmla="*/ 838200 h 588"/>
              <a:gd name="T6" fmla="*/ 3168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85AC429A-911B-4E8D-BD94-329662B351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97" r:id="rId2"/>
    <p:sldLayoutId id="2147483702" r:id="rId3"/>
    <p:sldLayoutId id="2147483703" r:id="rId4"/>
    <p:sldLayoutId id="2147483704" r:id="rId5"/>
    <p:sldLayoutId id="2147483705" r:id="rId6"/>
    <p:sldLayoutId id="2147483698" r:id="rId7"/>
    <p:sldLayoutId id="2147483706" r:id="rId8"/>
    <p:sldLayoutId id="2147483707" r:id="rId9"/>
    <p:sldLayoutId id="2147483699" r:id="rId10"/>
    <p:sldLayoutId id="2147483700" r:id="rId11"/>
    <p:sldLayoutId id="214748370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endParaRPr lang="en-US" dirty="0"/>
          </a:p>
          <a:p>
            <a:pPr marL="0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6000" dirty="0" smtClean="0"/>
              <a:t>Module -IV </a:t>
            </a:r>
          </a:p>
          <a:p>
            <a:pPr marL="0" indent="0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6000" dirty="0" smtClean="0"/>
              <a:t>Air Compressors</a:t>
            </a:r>
            <a:endParaRPr lang="en-US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56032" algn="just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spc="-150" dirty="0" smtClean="0"/>
              <a:t>Pneumatics: A system which uses compressed air is called pneumatics.</a:t>
            </a:r>
          </a:p>
          <a:p>
            <a:pPr marL="365760" indent="-256032" algn="just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spc="-150" dirty="0" smtClean="0"/>
              <a:t>It deals with the study of </a:t>
            </a:r>
            <a:r>
              <a:rPr lang="en-US" sz="2800" spc="-150" dirty="0" err="1" smtClean="0"/>
              <a:t>behaviour</a:t>
            </a:r>
            <a:r>
              <a:rPr lang="en-US" sz="2800" spc="-150" dirty="0" smtClean="0"/>
              <a:t> &amp; application of compressed air</a:t>
            </a:r>
          </a:p>
          <a:p>
            <a:pPr marL="365760" indent="-256032" algn="just" eaLnBrk="1" fontAlgn="auto" hangingPunct="1">
              <a:lnSpc>
                <a:spcPct val="9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spc="-150" dirty="0" smtClean="0"/>
              <a:t>A basic pneumatic system consist of a source of compressed air, control valves, pipelines &amp; pipe fittings and pneumatic accessories like filter, regulator and lubricator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smtClean="0"/>
              <a:t>Air compressor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spc="-150" dirty="0" smtClean="0"/>
              <a:t>For operating pneumatic tools such as drills, screw drivers, hammers, chisels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spc="-150" dirty="0" smtClean="0"/>
              <a:t>For pneumatic cranes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spc="-150" dirty="0" smtClean="0"/>
              <a:t>For pneumatic brakes of automobiles, railways and presses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spc="-150" dirty="0" smtClean="0"/>
              <a:t>For drive of CNC machine tools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spc="-150" dirty="0" smtClean="0"/>
              <a:t>For pneumatic conveying of materials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spc="-150" dirty="0" smtClean="0"/>
              <a:t>For pneumatic gauging, inspection and low cost automation systems</a:t>
            </a:r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Char char=""/>
              <a:defRPr/>
            </a:pPr>
            <a:endParaRPr lang="en-US" sz="2800" spc="-150" dirty="0" smtClean="0"/>
          </a:p>
          <a:p>
            <a:pPr marL="365760" indent="-256032" eaLnBrk="1" fontAlgn="auto" hangingPunct="1">
              <a:lnSpc>
                <a:spcPct val="80000"/>
              </a:lnSpc>
              <a:spcAft>
                <a:spcPts val="0"/>
              </a:spcAft>
              <a:buFont typeface="Wingdings 3"/>
              <a:buChar char=""/>
              <a:defRPr/>
            </a:pPr>
            <a:endParaRPr lang="en-US" sz="2800" spc="-150" dirty="0" smtClean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smtClean="0"/>
              <a:t>Application of compressed air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143000"/>
            <a:ext cx="8229600" cy="4525962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sz="2800" dirty="0" smtClean="0"/>
              <a:t>An air compressor is a mechanical device that increases the pressure of air by reducing volume.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800" dirty="0" smtClean="0"/>
              <a:t>Air is compressible, the compressor reduces the volume of air and induces pressure in the air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800" dirty="0" smtClean="0"/>
              <a:t>An air compressor converts electrical energy into pressure energy in the form of the air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800" dirty="0" smtClean="0"/>
              <a:t>The compressed air is stored in the air receiver and can be used for cleaning under pressure, generating torque and develop force using actuators</a:t>
            </a:r>
          </a:p>
          <a:p>
            <a:pPr algn="just" eaLnBrk="1" hangingPunct="1">
              <a:lnSpc>
                <a:spcPct val="90000"/>
              </a:lnSpc>
            </a:pPr>
            <a:endParaRPr lang="en-US" sz="2800" dirty="0" smtClean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/>
              <a:t>Introduction to compressors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1138"/>
            <a:ext cx="8229600" cy="4843462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sz="2800" dirty="0" smtClean="0"/>
              <a:t>Air compressors are classified according to method of energy transfer and pressure generation i.e. positive displacement and (non positive displacement) dynamic compressors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sz="2800" dirty="0" smtClean="0"/>
              <a:t>Positive displacement compressors work on the principle of increasing the pressure of air by reducing the volume of air in an enclosed chamber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sz="2800" dirty="0" smtClean="0"/>
              <a:t>Dynamic compressors works on the principle of imparting the energy by rotating vanes of impeller on air flowing through casing that increases pressure in air</a:t>
            </a:r>
          </a:p>
          <a:p>
            <a:pPr eaLnBrk="1" hangingPunct="1">
              <a:lnSpc>
                <a:spcPct val="80000"/>
              </a:lnSpc>
            </a:pPr>
            <a:endParaRPr lang="en-US" sz="2800" dirty="0" smtClean="0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smtClean="0"/>
              <a:t>Classification of air compressor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533400"/>
            <a:ext cx="8077200" cy="533400"/>
          </a:xfrm>
        </p:spPr>
        <p:txBody>
          <a:bodyPr>
            <a:normAutofit fontScale="90000"/>
          </a:bodyPr>
          <a:lstStyle/>
          <a:p>
            <a:pPr lvl="0"/>
            <a:r>
              <a:rPr lang="en-US" sz="4400" dirty="0" smtClean="0"/>
              <a:t>Reciprocating Air compressor</a:t>
            </a:r>
            <a:br>
              <a:rPr lang="en-US" sz="4400" dirty="0" smtClean="0"/>
            </a:b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71600" y="838200"/>
            <a:ext cx="6673362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/>
          <a:srcRect l="24321" t="19488" r="21358" b="8404"/>
          <a:stretch>
            <a:fillRect/>
          </a:stretch>
        </p:blipFill>
        <p:spPr bwMode="auto">
          <a:xfrm>
            <a:off x="2438400" y="762000"/>
            <a:ext cx="4530811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381000" y="457200"/>
            <a:ext cx="8077200" cy="533400"/>
          </a:xfrm>
        </p:spPr>
        <p:txBody>
          <a:bodyPr>
            <a:normAutofit fontScale="90000"/>
          </a:bodyPr>
          <a:lstStyle/>
          <a:p>
            <a:pPr lvl="0"/>
            <a:r>
              <a:rPr lang="en-US" sz="4400" dirty="0" smtClean="0"/>
              <a:t>Reciprocating Air compressor</a:t>
            </a:r>
            <a:br>
              <a:rPr lang="en-US" sz="4400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381000" y="609600"/>
            <a:ext cx="8382000" cy="54768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n-US" altLang="en-US" sz="2800">
                <a:solidFill>
                  <a:schemeClr val="tx2"/>
                </a:solidFill>
              </a:rPr>
              <a:t>Reciprocating Compressor – Multistage</a:t>
            </a:r>
            <a:endParaRPr lang="en-US" altLang="en-US" sz="2800"/>
          </a:p>
        </p:txBody>
      </p:sp>
      <p:sp>
        <p:nvSpPr>
          <p:cNvPr id="13316" name="Text Box 7"/>
          <p:cNvSpPr txBox="1">
            <a:spLocks noChangeArrowheads="1"/>
          </p:cNvSpPr>
          <p:nvPr/>
        </p:nvSpPr>
        <p:spPr bwMode="auto">
          <a:xfrm>
            <a:off x="441325" y="1538288"/>
            <a:ext cx="43307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>
                <a:solidFill>
                  <a:srgbClr val="2103FD"/>
                </a:solidFill>
              </a:rPr>
              <a:t>High Pressure required by Single – Stage :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533400" y="1931988"/>
            <a:ext cx="5210175" cy="1878012"/>
            <a:chOff x="336" y="1086"/>
            <a:chExt cx="3282" cy="1183"/>
          </a:xfrm>
        </p:grpSpPr>
        <p:graphicFrame>
          <p:nvGraphicFramePr>
            <p:cNvPr id="13314" name="Object 8"/>
            <p:cNvGraphicFramePr>
              <a:graphicFrameLocks noChangeAspect="1"/>
            </p:cNvGraphicFramePr>
            <p:nvPr/>
          </p:nvGraphicFramePr>
          <p:xfrm>
            <a:off x="336" y="1152"/>
            <a:ext cx="288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" name="Equation" r:id="rId3" imgW="190417" imgH="152334" progId="Equation.3">
                    <p:embed/>
                  </p:oleObj>
                </mc:Choice>
                <mc:Fallback>
                  <p:oleObj name="Equation" r:id="rId3" imgW="190417" imgH="152334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1152"/>
                          <a:ext cx="288" cy="2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19" name="Text Box 10"/>
            <p:cNvSpPr txBox="1">
              <a:spLocks noChangeArrowheads="1"/>
            </p:cNvSpPr>
            <p:nvPr/>
          </p:nvSpPr>
          <p:spPr bwMode="auto">
            <a:xfrm>
              <a:off x="710" y="1086"/>
              <a:ext cx="2908" cy="118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342900" indent="-342900" eaLnBrk="1" hangingPunct="1">
                <a:lnSpc>
                  <a:spcPct val="130000"/>
                </a:lnSpc>
                <a:buFontTx/>
                <a:buAutoNum type="arabicPeriod"/>
              </a:pPr>
              <a:r>
                <a:rPr lang="en-US" altLang="en-US" dirty="0">
                  <a:solidFill>
                    <a:srgbClr val="4D0B0D"/>
                  </a:solidFill>
                </a:rPr>
                <a:t>Requires heavy working parts.</a:t>
              </a:r>
            </a:p>
            <a:p>
              <a:pPr marL="342900" indent="-342900" eaLnBrk="1" hangingPunct="1">
                <a:lnSpc>
                  <a:spcPct val="130000"/>
                </a:lnSpc>
                <a:buFontTx/>
                <a:buAutoNum type="arabicPeriod"/>
              </a:pPr>
              <a:r>
                <a:rPr lang="en-US" altLang="en-US" dirty="0">
                  <a:solidFill>
                    <a:srgbClr val="CC3300"/>
                  </a:solidFill>
                </a:rPr>
                <a:t>Has to accommodate high pressure ratios.</a:t>
              </a:r>
            </a:p>
            <a:p>
              <a:pPr marL="342900" indent="-342900" eaLnBrk="1" hangingPunct="1">
                <a:lnSpc>
                  <a:spcPct val="130000"/>
                </a:lnSpc>
                <a:buFontTx/>
                <a:buAutoNum type="arabicPeriod"/>
              </a:pPr>
              <a:r>
                <a:rPr lang="en-US" altLang="en-US" dirty="0">
                  <a:solidFill>
                    <a:srgbClr val="590D0F"/>
                  </a:solidFill>
                </a:rPr>
                <a:t>Increased balancing problems.</a:t>
              </a:r>
            </a:p>
            <a:p>
              <a:pPr marL="342900" indent="-342900" eaLnBrk="1" hangingPunct="1">
                <a:lnSpc>
                  <a:spcPct val="130000"/>
                </a:lnSpc>
                <a:buFontTx/>
                <a:buAutoNum type="arabicPeriod"/>
              </a:pPr>
              <a:r>
                <a:rPr lang="en-US" altLang="en-US" dirty="0">
                  <a:solidFill>
                    <a:srgbClr val="006600"/>
                  </a:solidFill>
                </a:rPr>
                <a:t>High Torque fluctuations.</a:t>
              </a:r>
            </a:p>
            <a:p>
              <a:pPr marL="342900" indent="-342900" eaLnBrk="1" hangingPunct="1">
                <a:lnSpc>
                  <a:spcPct val="130000"/>
                </a:lnSpc>
                <a:buFontTx/>
                <a:buAutoNum type="arabicPeriod"/>
              </a:pPr>
              <a:r>
                <a:rPr lang="en-US" altLang="en-US" dirty="0">
                  <a:solidFill>
                    <a:srgbClr val="660066"/>
                  </a:solidFill>
                </a:rPr>
                <a:t>Requires heavy Flywheel installations.</a:t>
              </a:r>
            </a:p>
          </p:txBody>
        </p:sp>
      </p:grpSp>
      <p:sp>
        <p:nvSpPr>
          <p:cNvPr id="13318" name="Text Box 11"/>
          <p:cNvSpPr txBox="1">
            <a:spLocks noChangeArrowheads="1"/>
          </p:cNvSpPr>
          <p:nvPr/>
        </p:nvSpPr>
        <p:spPr bwMode="auto">
          <a:xfrm>
            <a:off x="2209800" y="4738688"/>
            <a:ext cx="439420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 dirty="0">
                <a:solidFill>
                  <a:srgbClr val="2103FD"/>
                </a:solidFill>
              </a:rPr>
              <a:t>This demands for MULTI – STAGING…!!</a:t>
            </a: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381000" y="609600"/>
            <a:ext cx="8382000" cy="54768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n-US" altLang="en-US" sz="2800">
                <a:solidFill>
                  <a:schemeClr val="tx2"/>
                </a:solidFill>
              </a:rPr>
              <a:t>Reciprocating Compressor – Multistage</a:t>
            </a:r>
            <a:endParaRPr lang="en-US" altLang="en-US" sz="2800"/>
          </a:p>
        </p:txBody>
      </p:sp>
      <p:sp>
        <p:nvSpPr>
          <p:cNvPr id="33795" name="Text Box 33"/>
          <p:cNvSpPr txBox="1">
            <a:spLocks noChangeArrowheads="1"/>
          </p:cNvSpPr>
          <p:nvPr/>
        </p:nvSpPr>
        <p:spPr bwMode="auto">
          <a:xfrm>
            <a:off x="304800" y="1143000"/>
            <a:ext cx="8550275" cy="8125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en-US" dirty="0">
                <a:solidFill>
                  <a:srgbClr val="590D0F"/>
                </a:solidFill>
              </a:rPr>
              <a:t>Series arrangement of cylinders</a:t>
            </a:r>
            <a:r>
              <a:rPr lang="en-US" altLang="en-US" dirty="0"/>
              <a:t>, in which the compressed air from earlier cylinder </a:t>
            </a:r>
            <a:r>
              <a:rPr lang="en-US" altLang="en-US" dirty="0" smtClean="0"/>
              <a:t>becomes </a:t>
            </a:r>
            <a:r>
              <a:rPr lang="en-US" altLang="en-US" dirty="0"/>
              <a:t>the intake air for the </a:t>
            </a:r>
            <a:r>
              <a:rPr lang="en-US" altLang="en-US"/>
              <a:t>next </a:t>
            </a:r>
            <a:r>
              <a:rPr lang="en-US" altLang="en-US" smtClean="0"/>
              <a:t>cylinder.</a:t>
            </a:r>
            <a:endParaRPr lang="en-US" altLang="en-US" dirty="0"/>
          </a:p>
        </p:txBody>
      </p:sp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6070600" y="3886200"/>
            <a:ext cx="2692400" cy="1030288"/>
            <a:chOff x="3696" y="1833"/>
            <a:chExt cx="1696" cy="649"/>
          </a:xfrm>
        </p:grpSpPr>
        <p:sp>
          <p:nvSpPr>
            <p:cNvPr id="33825" name="Text Box 38"/>
            <p:cNvSpPr txBox="1">
              <a:spLocks noChangeArrowheads="1"/>
            </p:cNvSpPr>
            <p:nvPr/>
          </p:nvSpPr>
          <p:spPr bwMode="auto">
            <a:xfrm>
              <a:off x="3696" y="1833"/>
              <a:ext cx="864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en-US" i="1" u="sng">
                  <a:solidFill>
                    <a:srgbClr val="2103FD"/>
                  </a:solidFill>
                </a:rPr>
                <a:t>Intercooler</a:t>
              </a:r>
              <a:r>
                <a:rPr lang="en-US" altLang="en-US" i="1">
                  <a:solidFill>
                    <a:srgbClr val="2103FD"/>
                  </a:solidFill>
                </a:rPr>
                <a:t> :</a:t>
              </a:r>
            </a:p>
          </p:txBody>
        </p:sp>
        <p:sp>
          <p:nvSpPr>
            <p:cNvPr id="33826" name="Text Box 39"/>
            <p:cNvSpPr txBox="1">
              <a:spLocks noChangeArrowheads="1"/>
            </p:cNvSpPr>
            <p:nvPr/>
          </p:nvSpPr>
          <p:spPr bwMode="auto">
            <a:xfrm>
              <a:off x="3716" y="2044"/>
              <a:ext cx="1676" cy="4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>
                <a:lnSpc>
                  <a:spcPct val="110000"/>
                </a:lnSpc>
              </a:pPr>
              <a:r>
                <a:rPr lang="en-US" altLang="en-US"/>
                <a:t>Compressed air is </a:t>
              </a:r>
              <a:r>
                <a:rPr lang="en-US" altLang="en-US" i="1">
                  <a:solidFill>
                    <a:srgbClr val="590D0F"/>
                  </a:solidFill>
                </a:rPr>
                <a:t>cooled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en-US" altLang="en-US"/>
                <a:t>between cylinders.</a:t>
              </a:r>
            </a:p>
          </p:txBody>
        </p: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152400" y="2057400"/>
            <a:ext cx="8458200" cy="3962400"/>
            <a:chOff x="96" y="1296"/>
            <a:chExt cx="5328" cy="2496"/>
          </a:xfrm>
        </p:grpSpPr>
        <p:grpSp>
          <p:nvGrpSpPr>
            <p:cNvPr id="4" name="Group 36"/>
            <p:cNvGrpSpPr>
              <a:grpSpLocks/>
            </p:cNvGrpSpPr>
            <p:nvPr/>
          </p:nvGrpSpPr>
          <p:grpSpPr bwMode="auto">
            <a:xfrm>
              <a:off x="3984" y="1296"/>
              <a:ext cx="1440" cy="984"/>
              <a:chOff x="4176" y="1728"/>
              <a:chExt cx="1440" cy="984"/>
            </a:xfrm>
          </p:grpSpPr>
          <p:sp>
            <p:nvSpPr>
              <p:cNvPr id="33822" name="Text Box 28"/>
              <p:cNvSpPr txBox="1">
                <a:spLocks noChangeArrowheads="1"/>
              </p:cNvSpPr>
              <p:nvPr/>
            </p:nvSpPr>
            <p:spPr bwMode="auto">
              <a:xfrm>
                <a:off x="4176" y="1728"/>
                <a:ext cx="1370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en-US">
                    <a:solidFill>
                      <a:srgbClr val="590D0F"/>
                    </a:solidFill>
                  </a:rPr>
                  <a:t>L.P.</a:t>
                </a:r>
                <a:r>
                  <a:rPr lang="en-US" altLang="en-US"/>
                  <a:t> = Low Pressure</a:t>
                </a:r>
              </a:p>
            </p:txBody>
          </p:sp>
          <p:sp>
            <p:nvSpPr>
              <p:cNvPr id="33823" name="Text Box 29"/>
              <p:cNvSpPr txBox="1">
                <a:spLocks noChangeArrowheads="1"/>
              </p:cNvSpPr>
              <p:nvPr/>
            </p:nvSpPr>
            <p:spPr bwMode="auto">
              <a:xfrm>
                <a:off x="4186" y="2064"/>
                <a:ext cx="1286" cy="40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en-US">
                    <a:solidFill>
                      <a:srgbClr val="660066"/>
                    </a:solidFill>
                  </a:rPr>
                  <a:t>I.P.</a:t>
                </a:r>
                <a:r>
                  <a:rPr lang="en-US" altLang="en-US"/>
                  <a:t> = Intermediate</a:t>
                </a:r>
              </a:p>
              <a:p>
                <a:pPr eaLnBrk="1" hangingPunct="1"/>
                <a:r>
                  <a:rPr lang="en-US" altLang="en-US"/>
                  <a:t>          Pressure</a:t>
                </a:r>
              </a:p>
            </p:txBody>
          </p:sp>
          <p:sp>
            <p:nvSpPr>
              <p:cNvPr id="33824" name="Text Box 30"/>
              <p:cNvSpPr txBox="1">
                <a:spLocks noChangeArrowheads="1"/>
              </p:cNvSpPr>
              <p:nvPr/>
            </p:nvSpPr>
            <p:spPr bwMode="auto">
              <a:xfrm>
                <a:off x="4198" y="2481"/>
                <a:ext cx="1418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en-US">
                    <a:solidFill>
                      <a:srgbClr val="003300"/>
                    </a:solidFill>
                  </a:rPr>
                  <a:t>H.P.</a:t>
                </a:r>
                <a:r>
                  <a:rPr lang="en-US" altLang="en-US"/>
                  <a:t> = High Pressure</a:t>
                </a:r>
              </a:p>
            </p:txBody>
          </p:sp>
        </p:grpSp>
        <p:grpSp>
          <p:nvGrpSpPr>
            <p:cNvPr id="5" name="Group 50"/>
            <p:cNvGrpSpPr>
              <a:grpSpLocks/>
            </p:cNvGrpSpPr>
            <p:nvPr/>
          </p:nvGrpSpPr>
          <p:grpSpPr bwMode="auto">
            <a:xfrm>
              <a:off x="96" y="1666"/>
              <a:ext cx="3280" cy="2126"/>
              <a:chOff x="144" y="1138"/>
              <a:chExt cx="3280" cy="2126"/>
            </a:xfrm>
          </p:grpSpPr>
          <p:sp>
            <p:nvSpPr>
              <p:cNvPr id="33800" name="Oval 7"/>
              <p:cNvSpPr>
                <a:spLocks noChangeArrowheads="1"/>
              </p:cNvSpPr>
              <p:nvPr/>
            </p:nvSpPr>
            <p:spPr bwMode="auto">
              <a:xfrm>
                <a:off x="144" y="1636"/>
                <a:ext cx="1056" cy="957"/>
              </a:xfrm>
              <a:prstGeom prst="ellipse">
                <a:avLst/>
              </a:prstGeom>
              <a:noFill/>
              <a:ln w="22225" algn="ctr">
                <a:solidFill>
                  <a:srgbClr val="590D0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altLang="en-US"/>
              </a:p>
            </p:txBody>
          </p:sp>
          <p:sp>
            <p:nvSpPr>
              <p:cNvPr id="33801" name="Oval 8"/>
              <p:cNvSpPr>
                <a:spLocks noChangeArrowheads="1"/>
              </p:cNvSpPr>
              <p:nvPr/>
            </p:nvSpPr>
            <p:spPr bwMode="auto">
              <a:xfrm>
                <a:off x="1484" y="1712"/>
                <a:ext cx="894" cy="804"/>
              </a:xfrm>
              <a:prstGeom prst="ellipse">
                <a:avLst/>
              </a:prstGeom>
              <a:noFill/>
              <a:ln w="22225" algn="ctr">
                <a:solidFill>
                  <a:srgbClr val="66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altLang="en-US"/>
              </a:p>
            </p:txBody>
          </p:sp>
          <p:sp>
            <p:nvSpPr>
              <p:cNvPr id="33802" name="Oval 9"/>
              <p:cNvSpPr>
                <a:spLocks noChangeArrowheads="1"/>
              </p:cNvSpPr>
              <p:nvPr/>
            </p:nvSpPr>
            <p:spPr bwMode="auto">
              <a:xfrm>
                <a:off x="2662" y="1827"/>
                <a:ext cx="650" cy="574"/>
              </a:xfrm>
              <a:prstGeom prst="ellipse">
                <a:avLst/>
              </a:prstGeom>
              <a:noFill/>
              <a:ln w="22225" algn="ctr">
                <a:solidFill>
                  <a:srgbClr val="00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altLang="en-US"/>
              </a:p>
            </p:txBody>
          </p:sp>
          <p:sp>
            <p:nvSpPr>
              <p:cNvPr id="33803" name="Text Box 10"/>
              <p:cNvSpPr txBox="1">
                <a:spLocks noChangeArrowheads="1"/>
              </p:cNvSpPr>
              <p:nvPr/>
            </p:nvSpPr>
            <p:spPr bwMode="auto">
              <a:xfrm>
                <a:off x="347" y="1906"/>
                <a:ext cx="660" cy="40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1" hangingPunct="1"/>
                <a:r>
                  <a:rPr lang="en-US" altLang="en-US">
                    <a:solidFill>
                      <a:srgbClr val="590D0F"/>
                    </a:solidFill>
                  </a:rPr>
                  <a:t>L.P. </a:t>
                </a:r>
              </a:p>
              <a:p>
                <a:pPr algn="ctr" eaLnBrk="1" hangingPunct="1"/>
                <a:r>
                  <a:rPr lang="en-US" altLang="en-US">
                    <a:solidFill>
                      <a:srgbClr val="590D0F"/>
                    </a:solidFill>
                  </a:rPr>
                  <a:t>Cylinder</a:t>
                </a:r>
              </a:p>
            </p:txBody>
          </p:sp>
          <p:sp>
            <p:nvSpPr>
              <p:cNvPr id="33804" name="Text Box 11"/>
              <p:cNvSpPr txBox="1">
                <a:spLocks noChangeArrowheads="1"/>
              </p:cNvSpPr>
              <p:nvPr/>
            </p:nvSpPr>
            <p:spPr bwMode="auto">
              <a:xfrm>
                <a:off x="1606" y="1906"/>
                <a:ext cx="660" cy="40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1" hangingPunct="1"/>
                <a:r>
                  <a:rPr lang="en-US" altLang="en-US" dirty="0">
                    <a:solidFill>
                      <a:srgbClr val="660066"/>
                    </a:solidFill>
                  </a:rPr>
                  <a:t>I.P. </a:t>
                </a:r>
              </a:p>
              <a:p>
                <a:pPr algn="ctr" eaLnBrk="1" hangingPunct="1"/>
                <a:r>
                  <a:rPr lang="en-US" altLang="en-US" dirty="0">
                    <a:solidFill>
                      <a:srgbClr val="660066"/>
                    </a:solidFill>
                  </a:rPr>
                  <a:t>Cylinder</a:t>
                </a:r>
              </a:p>
            </p:txBody>
          </p:sp>
          <p:sp>
            <p:nvSpPr>
              <p:cNvPr id="33805" name="Text Box 12"/>
              <p:cNvSpPr txBox="1">
                <a:spLocks noChangeArrowheads="1"/>
              </p:cNvSpPr>
              <p:nvPr/>
            </p:nvSpPr>
            <p:spPr bwMode="auto">
              <a:xfrm>
                <a:off x="2652" y="1886"/>
                <a:ext cx="660" cy="40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1" hangingPunct="1"/>
                <a:r>
                  <a:rPr lang="en-US" altLang="en-US">
                    <a:solidFill>
                      <a:srgbClr val="003300"/>
                    </a:solidFill>
                  </a:rPr>
                  <a:t>H.P. </a:t>
                </a:r>
              </a:p>
              <a:p>
                <a:pPr algn="ctr" eaLnBrk="1" hangingPunct="1"/>
                <a:r>
                  <a:rPr lang="en-US" altLang="en-US">
                    <a:solidFill>
                      <a:srgbClr val="003300"/>
                    </a:solidFill>
                  </a:rPr>
                  <a:t>Cylinder</a:t>
                </a:r>
              </a:p>
            </p:txBody>
          </p:sp>
          <p:sp>
            <p:nvSpPr>
              <p:cNvPr id="33806" name="Line 13"/>
              <p:cNvSpPr>
                <a:spLocks noChangeShapeType="1"/>
              </p:cNvSpPr>
              <p:nvPr/>
            </p:nvSpPr>
            <p:spPr bwMode="auto">
              <a:xfrm flipV="1">
                <a:off x="672" y="2593"/>
                <a:ext cx="0" cy="383"/>
              </a:xfrm>
              <a:prstGeom prst="line">
                <a:avLst/>
              </a:prstGeom>
              <a:noFill/>
              <a:ln w="22225">
                <a:solidFill>
                  <a:srgbClr val="003366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07" name="Line 14"/>
              <p:cNvSpPr>
                <a:spLocks noChangeShapeType="1"/>
              </p:cNvSpPr>
              <p:nvPr/>
            </p:nvSpPr>
            <p:spPr bwMode="auto">
              <a:xfrm flipV="1">
                <a:off x="672" y="1253"/>
                <a:ext cx="0" cy="383"/>
              </a:xfrm>
              <a:prstGeom prst="line">
                <a:avLst/>
              </a:prstGeom>
              <a:noFill/>
              <a:ln w="22225">
                <a:solidFill>
                  <a:srgbClr val="003366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08" name="Line 15"/>
              <p:cNvSpPr>
                <a:spLocks noChangeShapeType="1"/>
              </p:cNvSpPr>
              <p:nvPr/>
            </p:nvSpPr>
            <p:spPr bwMode="auto">
              <a:xfrm>
                <a:off x="1931" y="1253"/>
                <a:ext cx="0" cy="459"/>
              </a:xfrm>
              <a:prstGeom prst="line">
                <a:avLst/>
              </a:prstGeom>
              <a:noFill/>
              <a:ln w="22225">
                <a:solidFill>
                  <a:srgbClr val="003366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09" name="Line 16"/>
              <p:cNvSpPr>
                <a:spLocks noChangeShapeType="1"/>
              </p:cNvSpPr>
              <p:nvPr/>
            </p:nvSpPr>
            <p:spPr bwMode="auto">
              <a:xfrm>
                <a:off x="1931" y="2516"/>
                <a:ext cx="0" cy="421"/>
              </a:xfrm>
              <a:prstGeom prst="line">
                <a:avLst/>
              </a:prstGeom>
              <a:noFill/>
              <a:ln w="22225">
                <a:solidFill>
                  <a:srgbClr val="003366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0" name="Line 17"/>
              <p:cNvSpPr>
                <a:spLocks noChangeShapeType="1"/>
              </p:cNvSpPr>
              <p:nvPr/>
            </p:nvSpPr>
            <p:spPr bwMode="auto">
              <a:xfrm flipV="1">
                <a:off x="2987" y="2401"/>
                <a:ext cx="0" cy="536"/>
              </a:xfrm>
              <a:prstGeom prst="line">
                <a:avLst/>
              </a:prstGeom>
              <a:noFill/>
              <a:ln w="22225">
                <a:solidFill>
                  <a:srgbClr val="003366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1" name="Line 18"/>
              <p:cNvSpPr>
                <a:spLocks noChangeShapeType="1"/>
              </p:cNvSpPr>
              <p:nvPr/>
            </p:nvSpPr>
            <p:spPr bwMode="auto">
              <a:xfrm flipV="1">
                <a:off x="2987" y="1444"/>
                <a:ext cx="0" cy="383"/>
              </a:xfrm>
              <a:prstGeom prst="line">
                <a:avLst/>
              </a:prstGeom>
              <a:noFill/>
              <a:ln w="22225">
                <a:solidFill>
                  <a:srgbClr val="003366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2" name="Rectangle 19"/>
              <p:cNvSpPr>
                <a:spLocks noChangeArrowheads="1"/>
              </p:cNvSpPr>
              <p:nvPr/>
            </p:nvSpPr>
            <p:spPr bwMode="auto">
              <a:xfrm>
                <a:off x="916" y="1138"/>
                <a:ext cx="812" cy="230"/>
              </a:xfrm>
              <a:prstGeom prst="rect">
                <a:avLst/>
              </a:prstGeom>
              <a:noFill/>
              <a:ln w="22225" algn="ctr">
                <a:solidFill>
                  <a:srgbClr val="590D0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altLang="en-US"/>
              </a:p>
            </p:txBody>
          </p:sp>
          <p:sp>
            <p:nvSpPr>
              <p:cNvPr id="33813" name="Text Box 20"/>
              <p:cNvSpPr txBox="1">
                <a:spLocks noChangeArrowheads="1"/>
              </p:cNvSpPr>
              <p:nvPr/>
            </p:nvSpPr>
            <p:spPr bwMode="auto">
              <a:xfrm>
                <a:off x="966" y="1153"/>
                <a:ext cx="729" cy="212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en-US" sz="1600" dirty="0">
                    <a:solidFill>
                      <a:srgbClr val="660066"/>
                    </a:solidFill>
                  </a:rPr>
                  <a:t>Intercooler</a:t>
                </a:r>
              </a:p>
            </p:txBody>
          </p:sp>
          <p:sp>
            <p:nvSpPr>
              <p:cNvPr id="33814" name="Line 21"/>
              <p:cNvSpPr>
                <a:spLocks noChangeShapeType="1"/>
              </p:cNvSpPr>
              <p:nvPr/>
            </p:nvSpPr>
            <p:spPr bwMode="auto">
              <a:xfrm>
                <a:off x="672" y="1253"/>
                <a:ext cx="244" cy="0"/>
              </a:xfrm>
              <a:prstGeom prst="line">
                <a:avLst/>
              </a:prstGeom>
              <a:noFill/>
              <a:ln w="22225">
                <a:solidFill>
                  <a:srgbClr val="00008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5" name="Line 22"/>
              <p:cNvSpPr>
                <a:spLocks noChangeShapeType="1"/>
              </p:cNvSpPr>
              <p:nvPr/>
            </p:nvSpPr>
            <p:spPr bwMode="auto">
              <a:xfrm>
                <a:off x="1728" y="1253"/>
                <a:ext cx="203" cy="0"/>
              </a:xfrm>
              <a:prstGeom prst="line">
                <a:avLst/>
              </a:prstGeom>
              <a:noFill/>
              <a:ln w="22225">
                <a:solidFill>
                  <a:srgbClr val="660066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6" name="Rectangle 23"/>
              <p:cNvSpPr>
                <a:spLocks noChangeArrowheads="1"/>
              </p:cNvSpPr>
              <p:nvPr/>
            </p:nvSpPr>
            <p:spPr bwMode="auto">
              <a:xfrm>
                <a:off x="2134" y="2823"/>
                <a:ext cx="691" cy="229"/>
              </a:xfrm>
              <a:prstGeom prst="rect">
                <a:avLst/>
              </a:prstGeom>
              <a:noFill/>
              <a:ln w="22225" algn="ctr">
                <a:solidFill>
                  <a:srgbClr val="660066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en-US" altLang="en-US"/>
              </a:p>
            </p:txBody>
          </p:sp>
          <p:sp>
            <p:nvSpPr>
              <p:cNvPr id="33817" name="Text Box 24"/>
              <p:cNvSpPr txBox="1">
                <a:spLocks noChangeArrowheads="1"/>
              </p:cNvSpPr>
              <p:nvPr/>
            </p:nvSpPr>
            <p:spPr bwMode="auto">
              <a:xfrm>
                <a:off x="2134" y="2845"/>
                <a:ext cx="640" cy="18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1" hangingPunct="1"/>
                <a:r>
                  <a:rPr lang="en-US" altLang="en-US" sz="1300">
                    <a:solidFill>
                      <a:srgbClr val="003300"/>
                    </a:solidFill>
                  </a:rPr>
                  <a:t>Intercooler</a:t>
                </a:r>
              </a:p>
            </p:txBody>
          </p:sp>
          <p:sp>
            <p:nvSpPr>
              <p:cNvPr id="33818" name="Line 25"/>
              <p:cNvSpPr>
                <a:spLocks noChangeShapeType="1"/>
              </p:cNvSpPr>
              <p:nvPr/>
            </p:nvSpPr>
            <p:spPr bwMode="auto">
              <a:xfrm>
                <a:off x="1931" y="2937"/>
                <a:ext cx="203" cy="0"/>
              </a:xfrm>
              <a:prstGeom prst="line">
                <a:avLst/>
              </a:prstGeom>
              <a:noFill/>
              <a:ln w="22225">
                <a:solidFill>
                  <a:srgbClr val="00008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9" name="Line 26"/>
              <p:cNvSpPr>
                <a:spLocks noChangeShapeType="1"/>
              </p:cNvSpPr>
              <p:nvPr/>
            </p:nvSpPr>
            <p:spPr bwMode="auto">
              <a:xfrm>
                <a:off x="2825" y="2937"/>
                <a:ext cx="162" cy="0"/>
              </a:xfrm>
              <a:prstGeom prst="line">
                <a:avLst/>
              </a:prstGeom>
              <a:noFill/>
              <a:ln w="22225">
                <a:solidFill>
                  <a:srgbClr val="0033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20" name="Text Box 31"/>
              <p:cNvSpPr txBox="1">
                <a:spLocks noChangeArrowheads="1"/>
              </p:cNvSpPr>
              <p:nvPr/>
            </p:nvSpPr>
            <p:spPr bwMode="auto">
              <a:xfrm>
                <a:off x="379" y="3033"/>
                <a:ext cx="760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en-US"/>
                  <a:t>Air Intake</a:t>
                </a:r>
              </a:p>
            </p:txBody>
          </p:sp>
          <p:sp>
            <p:nvSpPr>
              <p:cNvPr id="33821" name="Text Box 49"/>
              <p:cNvSpPr txBox="1">
                <a:spLocks noChangeArrowheads="1"/>
              </p:cNvSpPr>
              <p:nvPr/>
            </p:nvSpPr>
            <p:spPr bwMode="auto">
              <a:xfrm>
                <a:off x="2544" y="1200"/>
                <a:ext cx="880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en-US"/>
                  <a:t>Air Delivery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/>
              <a:t>Double stage reciprocating air compressor</a:t>
            </a: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 rotWithShape="1">
          <a:blip r:embed="rId2"/>
          <a:srcRect b="6562"/>
          <a:stretch/>
        </p:blipFill>
        <p:spPr bwMode="auto">
          <a:xfrm>
            <a:off x="457200" y="1447800"/>
            <a:ext cx="79248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04800" y="1295400"/>
            <a:ext cx="8433076" cy="4495800"/>
          </a:xfrm>
          <a:noFill/>
        </p:spPr>
      </p:pic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/>
              <a:t>Rotary vane compressor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429000" y="4435475"/>
            <a:ext cx="2201863" cy="2422525"/>
          </a:xfrm>
          <a:noFill/>
        </p:spPr>
      </p:pic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/>
              <a:t>Centrifugal compressor</a:t>
            </a:r>
          </a:p>
        </p:txBody>
      </p:sp>
      <p:pic>
        <p:nvPicPr>
          <p:cNvPr id="4608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85208" y="990600"/>
            <a:ext cx="4806392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990600"/>
            <a:ext cx="4267200" cy="3058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596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Axial flow compressor</a:t>
            </a:r>
            <a:endParaRPr lang="en-US" dirty="0"/>
          </a:p>
        </p:txBody>
      </p:sp>
      <p:pic>
        <p:nvPicPr>
          <p:cNvPr id="80898" name="Picture 2" descr="C:\Users\Illyas\Desktop\compressor\download.jpg"/>
          <p:cNvPicPr>
            <a:picLocks noChangeAspect="1" noChangeArrowheads="1"/>
          </p:cNvPicPr>
          <p:nvPr/>
        </p:nvPicPr>
        <p:blipFill rotWithShape="1">
          <a:blip r:embed="rId2"/>
          <a:srcRect t="40765"/>
          <a:stretch/>
        </p:blipFill>
        <p:spPr bwMode="auto">
          <a:xfrm>
            <a:off x="0" y="1123950"/>
            <a:ext cx="4851634" cy="2152650"/>
          </a:xfrm>
          <a:prstGeom prst="rect">
            <a:avLst/>
          </a:prstGeom>
          <a:noFill/>
        </p:spPr>
      </p:pic>
      <p:pic>
        <p:nvPicPr>
          <p:cNvPr id="2050" name="Picture 2" descr="C:\Users\Illyas\Desktop\compressor\slide_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68800" y="609600"/>
            <a:ext cx="4470400" cy="3352800"/>
          </a:xfrm>
          <a:prstGeom prst="rect">
            <a:avLst/>
          </a:prstGeom>
          <a:noFill/>
        </p:spPr>
      </p:pic>
      <p:pic>
        <p:nvPicPr>
          <p:cNvPr id="2051" name="Picture 3" descr="C:\Users\Illyas\Desktop\compressor\rbh9_image001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27534" y="3646488"/>
            <a:ext cx="4648200" cy="30876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1566</TotalTime>
  <Words>393</Words>
  <Application>Microsoft Office PowerPoint</Application>
  <PresentationFormat>On-screen Show (4:3)</PresentationFormat>
  <Paragraphs>56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Lucida Sans Unicode</vt:lpstr>
      <vt:lpstr>Verdana</vt:lpstr>
      <vt:lpstr>Wingdings 2</vt:lpstr>
      <vt:lpstr>Wingdings 3</vt:lpstr>
      <vt:lpstr>Concourse</vt:lpstr>
      <vt:lpstr>Equation</vt:lpstr>
      <vt:lpstr>PowerPoint Presentation</vt:lpstr>
      <vt:lpstr>Air compressor</vt:lpstr>
      <vt:lpstr>Application of compressed air</vt:lpstr>
      <vt:lpstr>Introduction to compressors</vt:lpstr>
      <vt:lpstr>Classification of air compressor</vt:lpstr>
      <vt:lpstr>Reciprocating Air compressor </vt:lpstr>
      <vt:lpstr>Reciprocating Air compressor </vt:lpstr>
      <vt:lpstr>PowerPoint Presentation</vt:lpstr>
      <vt:lpstr>PowerPoint Presentation</vt:lpstr>
      <vt:lpstr>Double stage reciprocating air compressor</vt:lpstr>
      <vt:lpstr>Rotary vane compressor</vt:lpstr>
      <vt:lpstr>Centrifugal compressor</vt:lpstr>
      <vt:lpstr>Axial flow compressor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pcp</dc:creator>
  <cp:lastModifiedBy>Illyas</cp:lastModifiedBy>
  <cp:revision>161</cp:revision>
  <dcterms:created xsi:type="dcterms:W3CDTF">2010-09-14T05:36:23Z</dcterms:created>
  <dcterms:modified xsi:type="dcterms:W3CDTF">2023-04-24T03:02:22Z</dcterms:modified>
</cp:coreProperties>
</file>